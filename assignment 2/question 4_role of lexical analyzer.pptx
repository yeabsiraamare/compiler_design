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474c8e2a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474c8e2a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474c8e2a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474c8e2a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474c8e2a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474c8e2a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474c8e2a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b474c8e2a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474c8e2a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b474c8e2a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474c8e2a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b474c8e2a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474c8e2a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b474c8e2a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474c8e2a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b474c8e2a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311708" y="216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" sz="3500"/>
              <a:t>The Role of the Lexical Analyzer in a Compiler</a:t>
            </a:r>
            <a:endParaRPr sz="3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311700" y="2040000"/>
            <a:ext cx="8520600" cy="31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73"/>
              <a:t>Principles of Compiler Design</a:t>
            </a:r>
            <a:endParaRPr sz="357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73"/>
              <a:t>Prepared by: Yeabsira Amare</a:t>
            </a:r>
            <a:endParaRPr sz="357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January 2026</a:t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BahirDar University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Introduction to Lexical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087450" y="1847500"/>
            <a:ext cx="76005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Lexical Analyzer (also called Scanner or Lexer) is the </a:t>
            </a:r>
            <a:r>
              <a:rPr b="1" lang="en" sz="1600">
                <a:solidFill>
                  <a:schemeClr val="dk1"/>
                </a:solidFill>
              </a:rPr>
              <a:t>first phase</a:t>
            </a:r>
            <a:r>
              <a:rPr lang="en" sz="1600">
                <a:solidFill>
                  <a:schemeClr val="dk1"/>
                </a:solidFill>
              </a:rPr>
              <a:t> of a compiler.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It reads the source code character by character and groups them into meaningful sequences called </a:t>
            </a:r>
            <a:r>
              <a:rPr b="1" lang="en" sz="1600">
                <a:solidFill>
                  <a:schemeClr val="dk1"/>
                </a:solidFill>
              </a:rPr>
              <a:t>lexemes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Converts lexemes into </a:t>
            </a:r>
            <a:r>
              <a:rPr b="1" lang="en" sz="1600">
                <a:solidFill>
                  <a:schemeClr val="dk1"/>
                </a:solidFill>
              </a:rPr>
              <a:t>tokens</a:t>
            </a:r>
            <a:r>
              <a:rPr lang="en" sz="1600">
                <a:solidFill>
                  <a:schemeClr val="dk1"/>
                </a:solidFill>
              </a:rPr>
              <a:t> (abstract symbols) for the next phase.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Relevance: Simplifies input for the parser, removes unnecessary elements (whitespace, comments), and detects early errors.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Position in Compiler Phases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Compiler Phases: Lexical Analysis → Syntax Analysis → Semantic Analysis → Intermediate Code Generation → Code Optimization → Code Generation.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Acts as an interface between source code and the rest of the compiler.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Outputs a stream of tokens to the Syntax Analyzer (Parser).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Interacts with Symbol Table for identifiers.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5900" y="2893600"/>
            <a:ext cx="2927250" cy="209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Main Responsibilities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1303800" y="1990050"/>
            <a:ext cx="7197000" cy="28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Read source code from left to right, character by character.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Identify and generate </a:t>
            </a:r>
            <a:r>
              <a:rPr b="1" lang="en" sz="1600">
                <a:solidFill>
                  <a:schemeClr val="dk1"/>
                </a:solidFill>
              </a:rPr>
              <a:t>tokens</a:t>
            </a:r>
            <a:r>
              <a:rPr lang="en" sz="1600">
                <a:solidFill>
                  <a:schemeClr val="dk1"/>
                </a:solidFill>
              </a:rPr>
              <a:t> from lexemes.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Remove whitespace, comments, and newlines.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Detect lexical errors (e.g., invalid characters).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Correlate errors with line numbers.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Improve compiler efficiency and portability.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Core Concepts: Tokens, Lexemes, Pattern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"/>
          <p:cNvSpPr txBox="1"/>
          <p:nvPr>
            <p:ph idx="1" type="body"/>
          </p:nvPr>
        </p:nvSpPr>
        <p:spPr>
          <a:xfrm>
            <a:off x="1303800" y="1445850"/>
            <a:ext cx="70305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1500">
                <a:solidFill>
                  <a:schemeClr val="dk1"/>
                </a:solidFill>
              </a:rPr>
              <a:t>Lexeme</a:t>
            </a:r>
            <a:r>
              <a:rPr lang="en" sz="1500">
                <a:solidFill>
                  <a:schemeClr val="dk1"/>
                </a:solidFill>
              </a:rPr>
              <a:t>: Sequence of characters matching a pattern (e.g., "position").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1500">
                <a:solidFill>
                  <a:schemeClr val="dk1"/>
                </a:solidFill>
              </a:rPr>
              <a:t>Token</a:t>
            </a:r>
            <a:r>
              <a:rPr lang="en" sz="1500">
                <a:solidFill>
                  <a:schemeClr val="dk1"/>
                </a:solidFill>
              </a:rPr>
              <a:t>: Pair of &lt;token-type, attribute-value&gt; (e.g., &lt;ID, pointer to "position"&gt;).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1500">
                <a:solidFill>
                  <a:schemeClr val="dk1"/>
                </a:solidFill>
              </a:rPr>
              <a:t>Pattern</a:t>
            </a:r>
            <a:r>
              <a:rPr lang="en" sz="1500">
                <a:solidFill>
                  <a:schemeClr val="dk1"/>
                </a:solidFill>
              </a:rPr>
              <a:t>: Rule (regular expression) describing possible lexemes for a token.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Common Token Types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1500">
                <a:solidFill>
                  <a:schemeClr val="dk1"/>
                </a:solidFill>
              </a:rPr>
              <a:t>Keywords (e.g., if, while)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1500">
                <a:solidFill>
                  <a:schemeClr val="dk1"/>
                </a:solidFill>
              </a:rPr>
              <a:t>Identifiers (variable names)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1500">
                <a:solidFill>
                  <a:schemeClr val="dk1"/>
                </a:solidFill>
              </a:rPr>
              <a:t>Operators (+, -, ==)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1500">
                <a:solidFill>
                  <a:schemeClr val="dk1"/>
                </a:solidFill>
              </a:rPr>
              <a:t>Literals (numbers, strings)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1500">
                <a:solidFill>
                  <a:schemeClr val="dk1"/>
                </a:solidFill>
              </a:rPr>
              <a:t>Punctuators (;, {, })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Practical Example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"/>
          <p:cNvSpPr txBox="1"/>
          <p:nvPr>
            <p:ph idx="1" type="body"/>
          </p:nvPr>
        </p:nvSpPr>
        <p:spPr>
          <a:xfrm>
            <a:off x="932925" y="13161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Source Code Snippet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152400" marR="152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6E6E6"/>
                </a:solidFill>
                <a:highlight>
                  <a:srgbClr val="222222"/>
                </a:highlight>
              </a:rPr>
              <a:t>position = initial + rate * 60;</a:t>
            </a:r>
            <a:endParaRPr>
              <a:solidFill>
                <a:srgbClr val="E6E6E6"/>
              </a:solidFill>
              <a:highlight>
                <a:srgbClr val="22222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Generated Tokens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&lt;ID, "position"&gt;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&lt;ASSIGN, "="&gt;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&lt;ID, "initial"&gt;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&lt;PLUS, "+"&gt;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&lt;ID, "rate"&gt;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&lt;MULT, "*"&gt;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&lt;NUMBER, "60"&gt;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&lt;SEMICOLON, ";"&gt;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Real-World Applications &amp; Importance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Essential for all compilers (GCC, Clang, Javac).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Used in interpreters, code editors (syntax highlighting), and tools like search engines or NLP.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Tools: Lex/Flex for generating lexical analyzers.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Importance: Reduces complexity for parser, enables early error detection, enhances compiler portability.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Conclusion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Lexical Analyzer is crucial as the first phase, converting raw code into structured tokens.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Key benefits: Error handling, simplification, and preparation for syntax analysis.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Understanding it is fundamental to compiler design and efficient code processing.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References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Aho, A.V., Lam, M.S., Sethi, R., &amp; Ullman, J.D. (2006). </a:t>
            </a:r>
            <a:r>
              <a:rPr i="1" lang="en" sz="1600">
                <a:solidFill>
                  <a:schemeClr val="dk1"/>
                </a:solidFill>
              </a:rPr>
              <a:t>Compilers: Principles, Techniques, and Tools</a:t>
            </a:r>
            <a:r>
              <a:rPr lang="en" sz="1600">
                <a:solidFill>
                  <a:schemeClr val="dk1"/>
                </a:solidFill>
              </a:rPr>
              <a:t> (Dragon Book).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GeeksforGeeks: "Introduction of Lexical Analysis" and "Working of Lexical Analyzer".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Tutorialspoint: "Compiler Design - Lexical Analysis".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